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E3A45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-640080"/>
            <a:ext cx="3291840" cy="3291840"/>
          </a:xfrm>
          <a:prstGeom prst="ellipse">
            <a:avLst/>
          </a:prstGeom>
          <a:solidFill>
            <a:srgbClr val="0B4B5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AI CHATBOT — ASSIGNMENT ARCHITECTURE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868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6949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health information is scattered, inconsistent, and often written for clinicians — not the person searching at 11pm wondering if their symptoms are serious.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10233F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0358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2944368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Unreliable self-diagnosis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508760" y="3255264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turn to generic search results and forums, mixing sound public-health guidance with speculation.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142232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10233F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343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2519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 first stop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508760" y="4562856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chatbots either over-promise (quasi-diagnosis) or under-deliver (generic disclaimers, no real answer).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449824"/>
            <a:ext cx="6949440" cy="1051560"/>
          </a:xfrm>
          <a:prstGeom prst="roundRect">
            <a:avLst>
              <a:gd name="adj" fmla="val 6957"/>
            </a:avLst>
          </a:prstGeom>
          <a:solidFill>
            <a:srgbClr val="10233F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56509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650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5559552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harm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508760" y="5870448"/>
            <a:ext cx="5852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Unqualified medication or dosage advice, or a missed emergency, can cause real harm if a bot gets this wrong.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55280" y="1691640"/>
            <a:ext cx="3611880" cy="4279392"/>
          </a:xfrm>
          <a:prstGeom prst="roundRect">
            <a:avLst>
              <a:gd name="adj" fmla="val 2532"/>
            </a:avLst>
          </a:prstGeom>
          <a:solidFill>
            <a:srgbClr val="072430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0" y="19659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228600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chatbot that answers everyday health questions clearly and empathetically — while being structurally incapable of diagnosing or prescribing.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29600" y="38039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7" name="Text 25"/>
          <p:cNvSpPr/>
          <p:nvPr/>
        </p:nvSpPr>
        <p:spPr>
          <a:xfrm>
            <a:off x="8485632" y="36758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Grounded, cited answers (RAG)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0" y="42611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9" name="Text 27"/>
          <p:cNvSpPr/>
          <p:nvPr/>
        </p:nvSpPr>
        <p:spPr>
          <a:xfrm>
            <a:off x="8485632" y="41330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emergency handling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229600" y="47183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8485632" y="45902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medical disclaimer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0" y="5175504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8485632" y="5047488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LLM layer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AAROGYA — Healthcare AI Chatbot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design: Streamlit frontend, FastAPI orchestration backend, external LLM providers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UI  ·  Dark/Light mode  ·  Sidebar history  ·  Source chips  ·  Feedback buttons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15000" y="2212848"/>
            <a:ext cx="320040" cy="256032"/>
          </a:xfrm>
          <a:prstGeom prst="downArrow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6126480" y="2194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700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 (app/)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06324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72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api.py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6012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orchestration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3566160" y="306324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03320" y="3172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guardrails.py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70332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rules &amp; emergencies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6309360" y="306324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172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rag.py / embeddings.py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retrieval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9052560" y="306324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31729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prompts.py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189720" y="34747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822960" y="416052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270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llm.py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0120" y="4572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/ Gemini abstraction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3566160" y="416052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03320" y="4270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memory.py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703320" y="4572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history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6309360" y="416052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4270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models.py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46520" y="4572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schemas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9052560" y="4160520"/>
            <a:ext cx="2606040" cy="960120"/>
          </a:xfrm>
          <a:prstGeom prst="roundRect">
            <a:avLst>
              <a:gd name="adj" fmla="val 6667"/>
            </a:avLst>
          </a:prstGeom>
          <a:solidFill>
            <a:srgbClr val="F6F8FB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89720" y="427024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config.py / utils.py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189720" y="45720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&amp; logging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822960" y="59893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5989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GPT-5 / 4.1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474720" y="59893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02C39A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0" y="5989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26480" y="59893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028090"/>
          </a:solidFill>
          <a:ln/>
        </p:spPr>
      </p:sp>
      <p:sp>
        <p:nvSpPr>
          <p:cNvPr id="40" name="Text 38"/>
          <p:cNvSpPr/>
          <p:nvPr/>
        </p:nvSpPr>
        <p:spPr>
          <a:xfrm>
            <a:off x="6126480" y="5989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Vector Store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686800" y="6126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connects to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AAROGYA — Healthcare AI Chatbot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Workflow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between a user's message and Aarogya's reply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4148" y="21488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184148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7706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Guardrails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emergencies, prompt injection, risky requests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304288" y="2752344"/>
            <a:ext cx="137160" cy="164592"/>
          </a:xfrm>
          <a:prstGeom prst="rightArrow">
            <a:avLst/>
          </a:prstGeom>
          <a:solidFill>
            <a:srgbClr val="5B6579"/>
          </a:solidFill>
          <a:ln/>
        </p:spPr>
      </p:sp>
      <p:sp>
        <p:nvSpPr>
          <p:cNvPr id="10" name="Shape 8"/>
          <p:cNvSpPr/>
          <p:nvPr/>
        </p:nvSpPr>
        <p:spPr>
          <a:xfrm>
            <a:off x="2441448" y="19659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31236" y="21488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3031236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32888" y="27706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32888" y="3154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query, fetch top-4 chunks from FAISS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4151376" y="2752344"/>
            <a:ext cx="137160" cy="164592"/>
          </a:xfrm>
          <a:prstGeom prst="rightArrow">
            <a:avLst/>
          </a:prstGeom>
          <a:solidFill>
            <a:srgbClr val="5B6579"/>
          </a:solidFill>
          <a:ln/>
        </p:spPr>
      </p:sp>
      <p:sp>
        <p:nvSpPr>
          <p:cNvPr id="16" name="Shape 14"/>
          <p:cNvSpPr/>
          <p:nvPr/>
        </p:nvSpPr>
        <p:spPr>
          <a:xfrm>
            <a:off x="4288536" y="19659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78324" y="214884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878324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79976" y="27706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Assembly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79976" y="3154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+ context + conversation history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5998464" y="2752344"/>
            <a:ext cx="137160" cy="164592"/>
          </a:xfrm>
          <a:prstGeom prst="rightArrow">
            <a:avLst/>
          </a:prstGeom>
          <a:solidFill>
            <a:srgbClr val="5B6579"/>
          </a:solidFill>
          <a:ln/>
        </p:spPr>
      </p:sp>
      <p:sp>
        <p:nvSpPr>
          <p:cNvPr id="22" name="Shape 20"/>
          <p:cNvSpPr/>
          <p:nvPr/>
        </p:nvSpPr>
        <p:spPr>
          <a:xfrm>
            <a:off x="6135624" y="19659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5412" y="214884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6725412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27064" y="27706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227064" y="3154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or Gemini, with retry &amp; fallback model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7845552" y="2752344"/>
            <a:ext cx="137160" cy="164592"/>
          </a:xfrm>
          <a:prstGeom prst="rightArrow">
            <a:avLst/>
          </a:prstGeom>
          <a:solidFill>
            <a:srgbClr val="5B6579"/>
          </a:solidFill>
          <a:ln/>
        </p:spPr>
      </p:sp>
      <p:sp>
        <p:nvSpPr>
          <p:cNvPr id="28" name="Shape 26"/>
          <p:cNvSpPr/>
          <p:nvPr/>
        </p:nvSpPr>
        <p:spPr>
          <a:xfrm>
            <a:off x="7982712" y="19659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72500" y="2148840"/>
            <a:ext cx="512064" cy="512064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0" name="Text 28"/>
          <p:cNvSpPr/>
          <p:nvPr/>
        </p:nvSpPr>
        <p:spPr>
          <a:xfrm>
            <a:off x="8572500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74152" y="27706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Guardrails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74152" y="3154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for residual diagnosis/dosage language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9692640" y="2752344"/>
            <a:ext cx="137160" cy="164592"/>
          </a:xfrm>
          <a:prstGeom prst="rightArrow">
            <a:avLst/>
          </a:prstGeom>
          <a:solidFill>
            <a:srgbClr val="5B6579"/>
          </a:solidFill>
          <a:ln/>
        </p:spPr>
      </p:sp>
      <p:sp>
        <p:nvSpPr>
          <p:cNvPr id="34" name="Shape 32"/>
          <p:cNvSpPr/>
          <p:nvPr/>
        </p:nvSpPr>
        <p:spPr>
          <a:xfrm>
            <a:off x="9829800" y="1965960"/>
            <a:ext cx="1691640" cy="173736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19588" y="2148840"/>
            <a:ext cx="512064" cy="51206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10419588" y="214884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921240" y="2770632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+ Response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921240" y="3154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7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turn, return answer + disclaimer + sources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594360" y="4023360"/>
            <a:ext cx="11018520" cy="1051560"/>
          </a:xfrm>
          <a:prstGeom prst="roundRect">
            <a:avLst>
              <a:gd name="adj" fmla="val 6957"/>
            </a:avLst>
          </a:prstGeom>
          <a:solidFill>
            <a:srgbClr val="FDECEC"/>
          </a:solidFill>
          <a:ln w="12700">
            <a:solidFill>
              <a:srgbClr val="F3B8B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224528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371600" y="416052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7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short-circuit: if Step 1 detects chest pain, stroke symptoms, severe bleeding, loss of consciousness, or suicidal ideation, steps 2–5 are skipped entirely — the user immediately receives a fixed, reviewed emergency response with local emergency and crisis helpline numbers.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94360" y="5349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end-to-end latency: 0.5s – 2.5s depending on LLM provider and retrieval load.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AAROGYA — Healthcare AI Chatbot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+ RAG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answers stay grounded, safe, and empathetic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37360"/>
            <a:ext cx="5394960" cy="182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103120"/>
            <a:ext cx="82296" cy="658368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848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05840" y="23591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Friendly, empathetic, concise — "Aarogya"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822960" y="2862072"/>
            <a:ext cx="82296" cy="658368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437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diagnose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311810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naming a condition the user "has"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22960" y="3621024"/>
            <a:ext cx="82296" cy="658368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027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prescribe / dose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3877056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Redirects to a doctor or pharmacist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822960" y="4379976"/>
            <a:ext cx="82296" cy="658368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3616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contract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463600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line → info → self-care → consult line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822960" y="5138928"/>
            <a:ext cx="82296" cy="658368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5120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Injection-resistant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005840" y="5394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Instructed to stay in character, ignore overrides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6217920" y="1417320"/>
            <a:ext cx="539496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E4E9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41732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00A896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737360"/>
            <a:ext cx="5394960" cy="1828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14173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92240" y="2103120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2103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31152" y="212140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chunked (~500 words, 75-word overlap)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2670048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1" name="Text 29"/>
          <p:cNvSpPr/>
          <p:nvPr/>
        </p:nvSpPr>
        <p:spPr>
          <a:xfrm>
            <a:off x="6492240" y="26700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931152" y="26883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with all-MiniLM-L6-v2 (384-dim)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3236976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3236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31152" y="325526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 in FAISS IndexFlatIP (cosine sim)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3803904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7" name="Text 35"/>
          <p:cNvSpPr/>
          <p:nvPr/>
        </p:nvSpPr>
        <p:spPr>
          <a:xfrm>
            <a:off x="6492240" y="38039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31152" y="38221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embedded → top-4 chunks retrieved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4370832"/>
            <a:ext cx="310896" cy="3108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0" name="Text 38"/>
          <p:cNvSpPr/>
          <p:nvPr/>
        </p:nvSpPr>
        <p:spPr>
          <a:xfrm>
            <a:off x="6492240" y="4370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931152" y="4389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injected into prompt + cited to user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5074920"/>
            <a:ext cx="4846320" cy="822960"/>
          </a:xfrm>
          <a:prstGeom prst="roundRect">
            <a:avLst>
              <a:gd name="adj" fmla="val 8889"/>
            </a:avLst>
          </a:prstGeom>
          <a:solidFill>
            <a:srgbClr val="EAF7F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75120" y="5138928"/>
            <a:ext cx="44805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80" dirty="0">
                <a:solidFill>
                  <a:srgbClr val="0B5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WHO · CDC · NIH · MedlinePlus-style reference docs on symptoms, nutrition, first aid &amp; preventive care.</a:t>
            </a:r>
            <a:endParaRPr lang="en-US" sz="980" dirty="0"/>
          </a:p>
        </p:txBody>
      </p:sp>
      <p:sp>
        <p:nvSpPr>
          <p:cNvPr id="44" name="Text 4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AAROGYA — Healthcare AI Chatbot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4114800"/>
            <a:ext cx="5029200" cy="5029200"/>
          </a:xfrm>
          <a:prstGeom prst="ellipse">
            <a:avLst/>
          </a:prstGeom>
          <a:solidFill>
            <a:srgbClr val="0E3A4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beyond the current MVP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E2A44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0815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input/output; language field already reserved in the API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4416552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E2A44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5152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5152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&amp; speech 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5152" y="30815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and text-to-speech for hands-free use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8193024" y="187452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E2A44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1624" y="21031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21624" y="27432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responses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21624" y="3081528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Token-by-token replies over SSE/WebSocket for a snappier feel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640080" y="409651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E2A44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32511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68680" y="4965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guardrail classifier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53035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paraphrased risky requests regex rules miss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4416552" y="409651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E2A44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432511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645152" y="4965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45152" y="53035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session store to Redis/Postgres so history survives restarts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193024" y="4096512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0E2A44"/>
          </a:solidFill>
          <a:ln w="12700">
            <a:solidFill>
              <a:srgbClr val="1C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21624" y="4325112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2" name="Text 30"/>
          <p:cNvSpPr/>
          <p:nvPr/>
        </p:nvSpPr>
        <p:spPr>
          <a:xfrm>
            <a:off x="8421624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421624" y="4965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chat export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21624" y="53035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60" dirty="0">
                <a:solidFill>
                  <a:srgbClr val="AEB9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users download a shareable medical-summary PDF of the conversation</a:t>
            </a:r>
            <a:endParaRPr lang="en-US" sz="96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AAROGYA — Healthcare AI Chatbot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2026-07-29T11:02:26Z</dcterms:created>
  <dcterms:modified xsi:type="dcterms:W3CDTF">2026-07-29T11:02:26Z</dcterms:modified>
</cp:coreProperties>
</file>